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80" r:id="rId9"/>
    <p:sldId id="279" r:id="rId10"/>
    <p:sldId id="278" r:id="rId11"/>
    <p:sldId id="282" r:id="rId12"/>
    <p:sldId id="285" r:id="rId13"/>
    <p:sldId id="284" r:id="rId14"/>
    <p:sldId id="283" r:id="rId15"/>
    <p:sldId id="289" r:id="rId16"/>
    <p:sldId id="290" r:id="rId17"/>
    <p:sldId id="286" r:id="rId18"/>
    <p:sldId id="287" r:id="rId19"/>
  </p:sldIdLst>
  <p:sldSz cx="18288000" cy="10287000"/>
  <p:notesSz cx="6858000" cy="9144000"/>
  <p:embeddedFontLst>
    <p:embeddedFont>
      <p:font typeface="Baskerville Old Face" panose="02020602080505020303" pitchFamily="18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ACBF"/>
    <a:srgbClr val="40C8C5"/>
    <a:srgbClr val="21B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3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KESHRI" userId="f54754b99e6ab5c1" providerId="LiveId" clId="{5CF0F215-8477-49B4-9B7F-ACCE8B298121}"/>
    <pc:docChg chg="undo redo custSel addSld delSld modSld sldOrd">
      <pc:chgData name="DHRUV KESHRI" userId="f54754b99e6ab5c1" providerId="LiveId" clId="{5CF0F215-8477-49B4-9B7F-ACCE8B298121}" dt="2026-05-20T07:50:10.545" v="2106" actId="1037"/>
      <pc:docMkLst>
        <pc:docMk/>
      </pc:docMkLst>
      <pc:sldChg chg="addSp delSp modSp add del mod modClrScheme chgLayout">
        <pc:chgData name="DHRUV KESHRI" userId="f54754b99e6ab5c1" providerId="LiveId" clId="{5CF0F215-8477-49B4-9B7F-ACCE8B298121}" dt="2026-05-20T07:49:23.441" v="2102" actId="14100"/>
        <pc:sldMkLst>
          <pc:docMk/>
          <pc:sldMk cId="1413770641" sldId="275"/>
        </pc:sldMkLst>
        <pc:picChg chg="add mod">
          <ac:chgData name="DHRUV KESHRI" userId="f54754b99e6ab5c1" providerId="LiveId" clId="{5CF0F215-8477-49B4-9B7F-ACCE8B298121}" dt="2026-05-20T07:49:23.441" v="2102" actId="14100"/>
          <ac:picMkLst>
            <pc:docMk/>
            <pc:sldMk cId="1413770641" sldId="275"/>
            <ac:picMk id="15" creationId="{143ECCB2-4B1E-981A-7D70-741BD05946DE}"/>
          </ac:picMkLst>
        </pc:picChg>
      </pc:sldChg>
      <pc:sldChg chg="modSp mod">
        <pc:chgData name="DHRUV KESHRI" userId="f54754b99e6ab5c1" providerId="LiveId" clId="{5CF0F215-8477-49B4-9B7F-ACCE8B298121}" dt="2026-05-20T07:50:04.336" v="2105" actId="1038"/>
        <pc:sldMkLst>
          <pc:docMk/>
          <pc:sldMk cId="4122973036" sldId="279"/>
        </pc:sldMkLst>
        <pc:spChg chg="mod">
          <ac:chgData name="DHRUV KESHRI" userId="f54754b99e6ab5c1" providerId="LiveId" clId="{5CF0F215-8477-49B4-9B7F-ACCE8B298121}" dt="2026-05-20T07:50:04.336" v="2105" actId="1038"/>
          <ac:spMkLst>
            <pc:docMk/>
            <pc:sldMk cId="4122973036" sldId="279"/>
            <ac:spMk id="5" creationId="{A3846D64-ACBD-229D-56DE-583E169C36B5}"/>
          </ac:spMkLst>
        </pc:spChg>
      </pc:sldChg>
      <pc:sldChg chg="modSp mod">
        <pc:chgData name="DHRUV KESHRI" userId="f54754b99e6ab5c1" providerId="LiveId" clId="{5CF0F215-8477-49B4-9B7F-ACCE8B298121}" dt="2026-05-20T07:49:53.906" v="2104" actId="1037"/>
        <pc:sldMkLst>
          <pc:docMk/>
          <pc:sldMk cId="2364727074" sldId="280"/>
        </pc:sldMkLst>
        <pc:spChg chg="mod">
          <ac:chgData name="DHRUV KESHRI" userId="f54754b99e6ab5c1" providerId="LiveId" clId="{5CF0F215-8477-49B4-9B7F-ACCE8B298121}" dt="2026-05-20T07:49:53.906" v="2104" actId="1037"/>
          <ac:spMkLst>
            <pc:docMk/>
            <pc:sldMk cId="2364727074" sldId="280"/>
            <ac:spMk id="5" creationId="{255E85D2-B62C-8019-F92B-952A5842DD49}"/>
          </ac:spMkLst>
        </pc:spChg>
      </pc:sldChg>
      <pc:sldChg chg="modSp mod">
        <pc:chgData name="DHRUV KESHRI" userId="f54754b99e6ab5c1" providerId="LiveId" clId="{5CF0F215-8477-49B4-9B7F-ACCE8B298121}" dt="2026-05-20T07:50:10.545" v="2106" actId="1037"/>
        <pc:sldMkLst>
          <pc:docMk/>
          <pc:sldMk cId="3937475635" sldId="282"/>
        </pc:sldMkLst>
        <pc:spChg chg="mod">
          <ac:chgData name="DHRUV KESHRI" userId="f54754b99e6ab5c1" providerId="LiveId" clId="{5CF0F215-8477-49B4-9B7F-ACCE8B298121}" dt="2026-05-20T07:50:10.545" v="2106" actId="1037"/>
          <ac:spMkLst>
            <pc:docMk/>
            <pc:sldMk cId="3937475635" sldId="282"/>
            <ac:spMk id="5" creationId="{36E7B01A-BE65-ABF3-8AD4-331F21034879}"/>
          </ac:spMkLst>
        </pc:spChg>
      </pc:sldChg>
      <pc:sldChg chg="addSp delSp modSp add mod ord">
        <pc:chgData name="DHRUV KESHRI" userId="f54754b99e6ab5c1" providerId="LiveId" clId="{5CF0F215-8477-49B4-9B7F-ACCE8B298121}" dt="2026-04-20T19:48:44.686" v="2095" actId="1038"/>
        <pc:sldMkLst>
          <pc:docMk/>
          <pc:sldMk cId="3614629223" sldId="283"/>
        </pc:sldMkLst>
        <pc:picChg chg="add mod ord">
          <ac:chgData name="DHRUV KESHRI" userId="f54754b99e6ab5c1" providerId="LiveId" clId="{5CF0F215-8477-49B4-9B7F-ACCE8B298121}" dt="2026-04-20T19:48:44.686" v="2095" actId="1038"/>
          <ac:picMkLst>
            <pc:docMk/>
            <pc:sldMk cId="3614629223" sldId="283"/>
            <ac:picMk id="10" creationId="{DA527625-F5A2-F1A2-14CB-C82063BCED2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29D325-7A62-4292-977C-58AAD1219CE7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B984E0AB-7BC2-4FCC-9C66-62F7E92DFF6C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3200" b="1" dirty="0">
              <a:solidFill>
                <a:schemeClr val="tx1"/>
              </a:solidFill>
              <a:latin typeface="Baskerville Old Face" panose="02020602080505020303" pitchFamily="18" charset="0"/>
            </a:rPr>
            <a:t>Data Cleaning &amp; Transformation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 dirty="0">
              <a:solidFill>
                <a:schemeClr val="tx1"/>
              </a:solidFill>
              <a:latin typeface="Baskerville Old Face" panose="02020602080505020303" pitchFamily="18" charset="0"/>
            </a:rPr>
            <a:t>Used </a:t>
          </a:r>
          <a:r>
            <a:rPr lang="en-US" sz="2800" b="1" dirty="0">
              <a:solidFill>
                <a:schemeClr val="tx1"/>
              </a:solidFill>
              <a:latin typeface="Baskerville Old Face" panose="02020602080505020303" pitchFamily="18" charset="0"/>
            </a:rPr>
            <a:t>Power Query Editor</a:t>
          </a:r>
          <a:r>
            <a:rPr lang="en-US" sz="2800" dirty="0">
              <a:solidFill>
                <a:schemeClr val="tx1"/>
              </a:solidFill>
              <a:latin typeface="Baskerville Old Face" panose="02020602080505020303" pitchFamily="18" charset="0"/>
            </a:rPr>
            <a:t> to clean and transform data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 dirty="0">
              <a:solidFill>
                <a:schemeClr val="tx1"/>
              </a:solidFill>
              <a:latin typeface="Baskerville Old Face" panose="02020602080505020303" pitchFamily="18" charset="0"/>
            </a:rPr>
            <a:t>Handled missing values and inconsistencies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 dirty="0">
              <a:solidFill>
                <a:schemeClr val="tx1"/>
              </a:solidFill>
              <a:latin typeface="Baskerville Old Face" panose="02020602080505020303" pitchFamily="18" charset="0"/>
            </a:rPr>
            <a:t>Ensured data accuracy and integrity </a:t>
          </a:r>
          <a:endParaRPr lang="en-IN" sz="2800" dirty="0">
            <a:solidFill>
              <a:schemeClr val="tx1"/>
            </a:solidFill>
          </a:endParaRPr>
        </a:p>
      </dgm:t>
    </dgm:pt>
    <dgm:pt modelId="{609ECFCE-1A20-43EE-8420-C107C9B51DA7}" type="parTrans" cxnId="{EFF2EB36-B9A3-4E2D-B12D-DDF4E92EA3D6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43CCF8E6-424C-4DE4-816C-40454A2A0175}" type="sibTrans" cxnId="{EFF2EB36-B9A3-4E2D-B12D-DDF4E92EA3D6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27753C8F-A4B4-469B-8DB4-5516526A42ED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3200" b="1">
              <a:solidFill>
                <a:schemeClr val="tx1"/>
              </a:solidFill>
              <a:latin typeface="Baskerville Old Face" panose="02020602080505020303" pitchFamily="18" charset="0"/>
            </a:rPr>
            <a:t>Data Processing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Applied </a:t>
          </a:r>
          <a:r>
            <a:rPr lang="en-US" sz="2800" b="1">
              <a:solidFill>
                <a:schemeClr val="tx1"/>
              </a:solidFill>
              <a:latin typeface="Baskerville Old Face" panose="02020602080505020303" pitchFamily="18" charset="0"/>
            </a:rPr>
            <a:t>sorting, filtering, and merging</a:t>
          </a: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 techniques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Structured data for efficient analysis </a:t>
          </a:r>
          <a:endParaRPr lang="en-IN" sz="2800" dirty="0">
            <a:solidFill>
              <a:schemeClr val="tx1"/>
            </a:solidFill>
          </a:endParaRPr>
        </a:p>
      </dgm:t>
    </dgm:pt>
    <dgm:pt modelId="{061842D9-BF05-4746-B998-DB22271DE78B}" type="parTrans" cxnId="{773A09F5-EC2E-43C7-952F-646EA9E7775E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54402E70-3F04-4204-AF0F-99E714FC0969}" type="sibTrans" cxnId="{773A09F5-EC2E-43C7-952F-646EA9E7775E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91A4CE72-379D-4B40-80A8-C10CD5D14775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3200" b="1">
              <a:solidFill>
                <a:schemeClr val="tx1"/>
              </a:solidFill>
              <a:latin typeface="Baskerville Old Face" panose="02020602080505020303" pitchFamily="18" charset="0"/>
            </a:rPr>
            <a:t>DAX Implementation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Used </a:t>
          </a:r>
          <a:r>
            <a:rPr lang="en-US" sz="2800" b="1">
              <a:solidFill>
                <a:schemeClr val="tx1"/>
              </a:solidFill>
              <a:latin typeface="Baskerville Old Face" panose="02020602080505020303" pitchFamily="18" charset="0"/>
            </a:rPr>
            <a:t>DAX functions</a:t>
          </a: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 like SUM, AVERAGE, IF, CALCULATE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Created measures for revenue, wait time, and performance </a:t>
          </a:r>
          <a:endParaRPr lang="en-IN" sz="2800" dirty="0">
            <a:solidFill>
              <a:schemeClr val="tx1"/>
            </a:solidFill>
          </a:endParaRPr>
        </a:p>
      </dgm:t>
    </dgm:pt>
    <dgm:pt modelId="{1C66A527-0CE2-49B3-B8F7-A835C408A730}" type="parTrans" cxnId="{B645971B-02EB-4307-AAA3-1D49DED53843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88BB915A-27FD-4C7B-9293-60E7F0C4FA3A}" type="sibTrans" cxnId="{B645971B-02EB-4307-AAA3-1D49DED53843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38B9AFD2-83A2-41BB-84C1-FDB4743638EA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3200" b="1">
              <a:solidFill>
                <a:schemeClr val="tx1"/>
              </a:solidFill>
              <a:latin typeface="Baskerville Old Face" panose="02020602080505020303" pitchFamily="18" charset="0"/>
            </a:rPr>
            <a:t>Data Visualization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Developed </a:t>
          </a:r>
          <a:r>
            <a:rPr lang="en-US" sz="2800" b="1">
              <a:solidFill>
                <a:schemeClr val="tx1"/>
              </a:solidFill>
              <a:latin typeface="Baskerville Old Face" panose="02020602080505020303" pitchFamily="18" charset="0"/>
            </a:rPr>
            <a:t>interactive dashboards in Power BI</a:t>
          </a: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Used charts, tables, and reports for clear insights </a:t>
          </a:r>
          <a:endParaRPr lang="en-IN" sz="2800" dirty="0">
            <a:solidFill>
              <a:schemeClr val="tx1"/>
            </a:solidFill>
          </a:endParaRPr>
        </a:p>
      </dgm:t>
    </dgm:pt>
    <dgm:pt modelId="{AF17DC7E-1A30-45BB-A50F-A691551EB41A}" type="parTrans" cxnId="{E4CDD27F-292E-4F5B-BED0-19F4E7036967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07C821DF-A2F4-4A72-985A-8F15B9A35AF8}" type="sibTrans" cxnId="{E4CDD27F-292E-4F5B-BED0-19F4E7036967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8FAEE153-3845-4580-95AE-A5E599D9A6A7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3200" b="1">
              <a:solidFill>
                <a:schemeClr val="tx1"/>
              </a:solidFill>
              <a:latin typeface="Baskerville Old Face" panose="02020602080505020303" pitchFamily="18" charset="0"/>
            </a:rPr>
            <a:t>Insight Generation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Analyzed </a:t>
          </a:r>
          <a:r>
            <a:rPr lang="en-US" sz="2800" b="1">
              <a:solidFill>
                <a:schemeClr val="tx1"/>
              </a:solidFill>
              <a:latin typeface="Baskerville Old Face" panose="02020602080505020303" pitchFamily="18" charset="0"/>
            </a:rPr>
            <a:t>patient demographics and trends</a:t>
          </a: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Evaluated </a:t>
          </a:r>
          <a:r>
            <a:rPr lang="en-US" sz="2800" b="1">
              <a:solidFill>
                <a:schemeClr val="tx1"/>
              </a:solidFill>
              <a:latin typeface="Baskerville Old Face" panose="02020602080505020303" pitchFamily="18" charset="0"/>
            </a:rPr>
            <a:t>department performance and waiting time</a:t>
          </a: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Supported </a:t>
          </a:r>
          <a:r>
            <a:rPr lang="en-US" sz="2800" b="1">
              <a:solidFill>
                <a:schemeClr val="tx1"/>
              </a:solidFill>
              <a:latin typeface="Baskerville Old Face" panose="02020602080505020303" pitchFamily="18" charset="0"/>
            </a:rPr>
            <a:t>data-driven decision-making</a:t>
          </a:r>
          <a:r>
            <a:rPr lang="en-US" sz="28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  <a:endParaRPr lang="en-IN" sz="2800" dirty="0">
            <a:solidFill>
              <a:schemeClr val="tx1"/>
            </a:solidFill>
          </a:endParaRPr>
        </a:p>
      </dgm:t>
    </dgm:pt>
    <dgm:pt modelId="{750DDB74-BB6A-4387-B989-366565C50021}" type="parTrans" cxnId="{57D17C2F-BF87-425C-9D1D-B1B83F8E3CCD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ECFAB210-B938-4F4D-92EE-B035A59DC46F}" type="sibTrans" cxnId="{57D17C2F-BF87-425C-9D1D-B1B83F8E3CCD}">
      <dgm:prSet/>
      <dgm:spPr/>
      <dgm:t>
        <a:bodyPr/>
        <a:lstStyle/>
        <a:p>
          <a:endParaRPr lang="en-IN" sz="2400">
            <a:solidFill>
              <a:schemeClr val="tx1"/>
            </a:solidFill>
          </a:endParaRPr>
        </a:p>
      </dgm:t>
    </dgm:pt>
    <dgm:pt modelId="{E61F206E-751B-4A58-A8DE-33E2031A2223}" type="pres">
      <dgm:prSet presAssocID="{FF29D325-7A62-4292-977C-58AAD1219CE7}" presName="diagram" presStyleCnt="0">
        <dgm:presLayoutVars>
          <dgm:dir/>
          <dgm:resizeHandles val="exact"/>
        </dgm:presLayoutVars>
      </dgm:prSet>
      <dgm:spPr/>
    </dgm:pt>
    <dgm:pt modelId="{0B19D0E9-2B69-4782-8EAC-3B227F0D7271}" type="pres">
      <dgm:prSet presAssocID="{B984E0AB-7BC2-4FCC-9C66-62F7E92DFF6C}" presName="node" presStyleLbl="node1" presStyleIdx="0" presStyleCnt="5" custScaleX="118323" custScaleY="111041" custLinFactNeighborX="4006">
        <dgm:presLayoutVars>
          <dgm:bulletEnabled val="1"/>
        </dgm:presLayoutVars>
      </dgm:prSet>
      <dgm:spPr/>
    </dgm:pt>
    <dgm:pt modelId="{1D69BF01-9E95-4BA0-BE01-98AB839B820C}" type="pres">
      <dgm:prSet presAssocID="{43CCF8E6-424C-4DE4-816C-40454A2A0175}" presName="sibTrans" presStyleCnt="0"/>
      <dgm:spPr/>
    </dgm:pt>
    <dgm:pt modelId="{54669F3F-3EFA-40D3-9A6F-990883ECA370}" type="pres">
      <dgm:prSet presAssocID="{27753C8F-A4B4-469B-8DB4-5516526A42ED}" presName="node" presStyleLbl="node1" presStyleIdx="1" presStyleCnt="5" custScaleX="120657" custScaleY="112785" custLinFactNeighborX="-1415" custLinFactNeighborY="872">
        <dgm:presLayoutVars>
          <dgm:bulletEnabled val="1"/>
        </dgm:presLayoutVars>
      </dgm:prSet>
      <dgm:spPr/>
    </dgm:pt>
    <dgm:pt modelId="{22875EC9-5DC1-4F4E-BC6E-76888C6709AA}" type="pres">
      <dgm:prSet presAssocID="{54402E70-3F04-4204-AF0F-99E714FC0969}" presName="sibTrans" presStyleCnt="0"/>
      <dgm:spPr/>
    </dgm:pt>
    <dgm:pt modelId="{7962FBD9-3B5D-401A-926D-9C6F0F053CEE}" type="pres">
      <dgm:prSet presAssocID="{91A4CE72-379D-4B40-80A8-C10CD5D14775}" presName="node" presStyleLbl="node1" presStyleIdx="2" presStyleCnt="5" custScaleX="115345" custScaleY="112785" custLinFactNeighborX="-7166" custLinFactNeighborY="872">
        <dgm:presLayoutVars>
          <dgm:bulletEnabled val="1"/>
        </dgm:presLayoutVars>
      </dgm:prSet>
      <dgm:spPr/>
    </dgm:pt>
    <dgm:pt modelId="{D43D38E2-6AA1-4AC6-B294-15B320A5E6B3}" type="pres">
      <dgm:prSet presAssocID="{88BB915A-27FD-4C7B-9293-60E7F0C4FA3A}" presName="sibTrans" presStyleCnt="0"/>
      <dgm:spPr/>
    </dgm:pt>
    <dgm:pt modelId="{DC560DAC-8F33-4419-A7A6-A157B53EDC60}" type="pres">
      <dgm:prSet presAssocID="{38B9AFD2-83A2-41BB-84C1-FDB4743638EA}" presName="node" presStyleLbl="node1" presStyleIdx="3" presStyleCnt="5" custScaleX="128623" custScaleY="98991" custLinFactNeighborX="377" custLinFactNeighborY="-3752">
        <dgm:presLayoutVars>
          <dgm:bulletEnabled val="1"/>
        </dgm:presLayoutVars>
      </dgm:prSet>
      <dgm:spPr/>
    </dgm:pt>
    <dgm:pt modelId="{E7961F50-77D3-40F1-9D75-618830B5785B}" type="pres">
      <dgm:prSet presAssocID="{07C821DF-A2F4-4A72-985A-8F15B9A35AF8}" presName="sibTrans" presStyleCnt="0"/>
      <dgm:spPr/>
    </dgm:pt>
    <dgm:pt modelId="{19CDFB86-9680-4BAC-B5A0-3E5159C1B030}" type="pres">
      <dgm:prSet presAssocID="{8FAEE153-3845-4580-95AE-A5E599D9A6A7}" presName="node" presStyleLbl="node1" presStyleIdx="4" presStyleCnt="5" custScaleX="142593" custScaleY="98991" custLinFactNeighborX="-4927" custLinFactNeighborY="-3752">
        <dgm:presLayoutVars>
          <dgm:bulletEnabled val="1"/>
        </dgm:presLayoutVars>
      </dgm:prSet>
      <dgm:spPr/>
    </dgm:pt>
  </dgm:ptLst>
  <dgm:cxnLst>
    <dgm:cxn modelId="{85830A03-F066-42CB-B699-4445F87D7B1F}" type="presOf" srcId="{FF29D325-7A62-4292-977C-58AAD1219CE7}" destId="{E61F206E-751B-4A58-A8DE-33E2031A2223}" srcOrd="0" destOrd="0" presId="urn:microsoft.com/office/officeart/2005/8/layout/default"/>
    <dgm:cxn modelId="{B645971B-02EB-4307-AAA3-1D49DED53843}" srcId="{FF29D325-7A62-4292-977C-58AAD1219CE7}" destId="{91A4CE72-379D-4B40-80A8-C10CD5D14775}" srcOrd="2" destOrd="0" parTransId="{1C66A527-0CE2-49B3-B8F7-A835C408A730}" sibTransId="{88BB915A-27FD-4C7B-9293-60E7F0C4FA3A}"/>
    <dgm:cxn modelId="{CF13A221-F520-43EC-8EFA-5F573754D32D}" type="presOf" srcId="{B984E0AB-7BC2-4FCC-9C66-62F7E92DFF6C}" destId="{0B19D0E9-2B69-4782-8EAC-3B227F0D7271}" srcOrd="0" destOrd="0" presId="urn:microsoft.com/office/officeart/2005/8/layout/default"/>
    <dgm:cxn modelId="{596B632C-2A60-45BC-B34B-97BB47FD1EA5}" type="presOf" srcId="{38B9AFD2-83A2-41BB-84C1-FDB4743638EA}" destId="{DC560DAC-8F33-4419-A7A6-A157B53EDC60}" srcOrd="0" destOrd="0" presId="urn:microsoft.com/office/officeart/2005/8/layout/default"/>
    <dgm:cxn modelId="{57D17C2F-BF87-425C-9D1D-B1B83F8E3CCD}" srcId="{FF29D325-7A62-4292-977C-58AAD1219CE7}" destId="{8FAEE153-3845-4580-95AE-A5E599D9A6A7}" srcOrd="4" destOrd="0" parTransId="{750DDB74-BB6A-4387-B989-366565C50021}" sibTransId="{ECFAB210-B938-4F4D-92EE-B035A59DC46F}"/>
    <dgm:cxn modelId="{6DE49D36-B1CA-4A80-8D79-36BCEFFB9C2A}" type="presOf" srcId="{91A4CE72-379D-4B40-80A8-C10CD5D14775}" destId="{7962FBD9-3B5D-401A-926D-9C6F0F053CEE}" srcOrd="0" destOrd="0" presId="urn:microsoft.com/office/officeart/2005/8/layout/default"/>
    <dgm:cxn modelId="{EFF2EB36-B9A3-4E2D-B12D-DDF4E92EA3D6}" srcId="{FF29D325-7A62-4292-977C-58AAD1219CE7}" destId="{B984E0AB-7BC2-4FCC-9C66-62F7E92DFF6C}" srcOrd="0" destOrd="0" parTransId="{609ECFCE-1A20-43EE-8420-C107C9B51DA7}" sibTransId="{43CCF8E6-424C-4DE4-816C-40454A2A0175}"/>
    <dgm:cxn modelId="{E4CDD27F-292E-4F5B-BED0-19F4E7036967}" srcId="{FF29D325-7A62-4292-977C-58AAD1219CE7}" destId="{38B9AFD2-83A2-41BB-84C1-FDB4743638EA}" srcOrd="3" destOrd="0" parTransId="{AF17DC7E-1A30-45BB-A50F-A691551EB41A}" sibTransId="{07C821DF-A2F4-4A72-985A-8F15B9A35AF8}"/>
    <dgm:cxn modelId="{263FB493-EACA-4292-AF55-DC2DD5497BD8}" type="presOf" srcId="{27753C8F-A4B4-469B-8DB4-5516526A42ED}" destId="{54669F3F-3EFA-40D3-9A6F-990883ECA370}" srcOrd="0" destOrd="0" presId="urn:microsoft.com/office/officeart/2005/8/layout/default"/>
    <dgm:cxn modelId="{E99E67C0-4210-4A65-9B30-1C1F03641BCD}" type="presOf" srcId="{8FAEE153-3845-4580-95AE-A5E599D9A6A7}" destId="{19CDFB86-9680-4BAC-B5A0-3E5159C1B030}" srcOrd="0" destOrd="0" presId="urn:microsoft.com/office/officeart/2005/8/layout/default"/>
    <dgm:cxn modelId="{773A09F5-EC2E-43C7-952F-646EA9E7775E}" srcId="{FF29D325-7A62-4292-977C-58AAD1219CE7}" destId="{27753C8F-A4B4-469B-8DB4-5516526A42ED}" srcOrd="1" destOrd="0" parTransId="{061842D9-BF05-4746-B998-DB22271DE78B}" sibTransId="{54402E70-3F04-4204-AF0F-99E714FC0969}"/>
    <dgm:cxn modelId="{1D7C6E87-32E0-4329-91D4-BE60E7A1CB61}" type="presParOf" srcId="{E61F206E-751B-4A58-A8DE-33E2031A2223}" destId="{0B19D0E9-2B69-4782-8EAC-3B227F0D7271}" srcOrd="0" destOrd="0" presId="urn:microsoft.com/office/officeart/2005/8/layout/default"/>
    <dgm:cxn modelId="{A61F725E-CEB1-413D-8DEA-A98EE8957460}" type="presParOf" srcId="{E61F206E-751B-4A58-A8DE-33E2031A2223}" destId="{1D69BF01-9E95-4BA0-BE01-98AB839B820C}" srcOrd="1" destOrd="0" presId="urn:microsoft.com/office/officeart/2005/8/layout/default"/>
    <dgm:cxn modelId="{6A87BD1A-D16D-4CE8-8F7B-CAFBB74B5B8B}" type="presParOf" srcId="{E61F206E-751B-4A58-A8DE-33E2031A2223}" destId="{54669F3F-3EFA-40D3-9A6F-990883ECA370}" srcOrd="2" destOrd="0" presId="urn:microsoft.com/office/officeart/2005/8/layout/default"/>
    <dgm:cxn modelId="{9E8620C7-C5B7-489B-9F14-2519EE82FA09}" type="presParOf" srcId="{E61F206E-751B-4A58-A8DE-33E2031A2223}" destId="{22875EC9-5DC1-4F4E-BC6E-76888C6709AA}" srcOrd="3" destOrd="0" presId="urn:microsoft.com/office/officeart/2005/8/layout/default"/>
    <dgm:cxn modelId="{50EF59BA-B9D6-4FA0-BB90-5203046420C4}" type="presParOf" srcId="{E61F206E-751B-4A58-A8DE-33E2031A2223}" destId="{7962FBD9-3B5D-401A-926D-9C6F0F053CEE}" srcOrd="4" destOrd="0" presId="urn:microsoft.com/office/officeart/2005/8/layout/default"/>
    <dgm:cxn modelId="{FF84E69D-3059-483D-BE5D-860438B90920}" type="presParOf" srcId="{E61F206E-751B-4A58-A8DE-33E2031A2223}" destId="{D43D38E2-6AA1-4AC6-B294-15B320A5E6B3}" srcOrd="5" destOrd="0" presId="urn:microsoft.com/office/officeart/2005/8/layout/default"/>
    <dgm:cxn modelId="{774DF9FB-8FCD-4F22-A1A0-64D4B055D357}" type="presParOf" srcId="{E61F206E-751B-4A58-A8DE-33E2031A2223}" destId="{DC560DAC-8F33-4419-A7A6-A157B53EDC60}" srcOrd="6" destOrd="0" presId="urn:microsoft.com/office/officeart/2005/8/layout/default"/>
    <dgm:cxn modelId="{B66677D5-1386-46A8-866F-BBCF178B2CFD}" type="presParOf" srcId="{E61F206E-751B-4A58-A8DE-33E2031A2223}" destId="{E7961F50-77D3-40F1-9D75-618830B5785B}" srcOrd="7" destOrd="0" presId="urn:microsoft.com/office/officeart/2005/8/layout/default"/>
    <dgm:cxn modelId="{AC2257F8-B2A4-4D66-ABA5-39A10BCB4494}" type="presParOf" srcId="{E61F206E-751B-4A58-A8DE-33E2031A2223}" destId="{19CDFB86-9680-4BAC-B5A0-3E5159C1B03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9D0E9-2B69-4782-8EAC-3B227F0D7271}">
      <dsp:nvSpPr>
        <dsp:cNvPr id="0" name=""/>
        <dsp:cNvSpPr/>
      </dsp:nvSpPr>
      <dsp:spPr>
        <a:xfrm>
          <a:off x="191581" y="1001352"/>
          <a:ext cx="5602117" cy="31544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b="1" kern="1200" dirty="0">
              <a:solidFill>
                <a:schemeClr val="tx1"/>
              </a:solidFill>
              <a:latin typeface="Baskerville Old Face" panose="02020602080505020303" pitchFamily="18" charset="0"/>
            </a:rPr>
            <a:t>Data Cleaning &amp; Transformation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 dirty="0">
              <a:solidFill>
                <a:schemeClr val="tx1"/>
              </a:solidFill>
              <a:latin typeface="Baskerville Old Face" panose="02020602080505020303" pitchFamily="18" charset="0"/>
            </a:rPr>
            <a:t>Used </a:t>
          </a:r>
          <a:r>
            <a:rPr lang="en-US" sz="2800" b="1" kern="1200" dirty="0">
              <a:solidFill>
                <a:schemeClr val="tx1"/>
              </a:solidFill>
              <a:latin typeface="Baskerville Old Face" panose="02020602080505020303" pitchFamily="18" charset="0"/>
            </a:rPr>
            <a:t>Power Query Editor</a:t>
          </a:r>
          <a:r>
            <a:rPr lang="en-US" sz="2800" kern="1200" dirty="0">
              <a:solidFill>
                <a:schemeClr val="tx1"/>
              </a:solidFill>
              <a:latin typeface="Baskerville Old Face" panose="02020602080505020303" pitchFamily="18" charset="0"/>
            </a:rPr>
            <a:t> to clean and transform data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 dirty="0">
              <a:solidFill>
                <a:schemeClr val="tx1"/>
              </a:solidFill>
              <a:latin typeface="Baskerville Old Face" panose="02020602080505020303" pitchFamily="18" charset="0"/>
            </a:rPr>
            <a:t>Handled missing values and inconsistencies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 dirty="0">
              <a:solidFill>
                <a:schemeClr val="tx1"/>
              </a:solidFill>
              <a:latin typeface="Baskerville Old Face" panose="02020602080505020303" pitchFamily="18" charset="0"/>
            </a:rPr>
            <a:t>Ensured data accuracy and integrity </a:t>
          </a:r>
          <a:endParaRPr lang="en-IN" sz="2800" kern="1200" dirty="0">
            <a:solidFill>
              <a:schemeClr val="tx1"/>
            </a:solidFill>
          </a:endParaRPr>
        </a:p>
      </dsp:txBody>
      <dsp:txXfrm>
        <a:off x="191581" y="1001352"/>
        <a:ext cx="5602117" cy="3154406"/>
      </dsp:txXfrm>
    </dsp:sp>
    <dsp:sp modelId="{54669F3F-3EFA-40D3-9A6F-990883ECA370}">
      <dsp:nvSpPr>
        <dsp:cNvPr id="0" name=""/>
        <dsp:cNvSpPr/>
      </dsp:nvSpPr>
      <dsp:spPr>
        <a:xfrm>
          <a:off x="6010496" y="1001352"/>
          <a:ext cx="5712623" cy="320394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b="1" kern="1200">
              <a:solidFill>
                <a:schemeClr val="tx1"/>
              </a:solidFill>
              <a:latin typeface="Baskerville Old Face" panose="02020602080505020303" pitchFamily="18" charset="0"/>
            </a:rPr>
            <a:t>Data Processing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Applied </a:t>
          </a:r>
          <a:r>
            <a:rPr lang="en-US" sz="2800" b="1" kern="1200">
              <a:solidFill>
                <a:schemeClr val="tx1"/>
              </a:solidFill>
              <a:latin typeface="Baskerville Old Face" panose="02020602080505020303" pitchFamily="18" charset="0"/>
            </a:rPr>
            <a:t>sorting, filtering, and merging</a:t>
          </a: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 techniques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Structured data for efficient analysis </a:t>
          </a:r>
          <a:endParaRPr lang="en-IN" sz="2800" kern="1200" dirty="0">
            <a:solidFill>
              <a:schemeClr val="tx1"/>
            </a:solidFill>
          </a:endParaRPr>
        </a:p>
      </dsp:txBody>
      <dsp:txXfrm>
        <a:off x="6010496" y="1001352"/>
        <a:ext cx="5712623" cy="3203949"/>
      </dsp:txXfrm>
    </dsp:sp>
    <dsp:sp modelId="{7962FBD9-3B5D-401A-926D-9C6F0F053CEE}">
      <dsp:nvSpPr>
        <dsp:cNvPr id="0" name=""/>
        <dsp:cNvSpPr/>
      </dsp:nvSpPr>
      <dsp:spPr>
        <a:xfrm>
          <a:off x="11924293" y="1001352"/>
          <a:ext cx="5461121" cy="320394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b="1" kern="1200">
              <a:solidFill>
                <a:schemeClr val="tx1"/>
              </a:solidFill>
              <a:latin typeface="Baskerville Old Face" panose="02020602080505020303" pitchFamily="18" charset="0"/>
            </a:rPr>
            <a:t>DAX Implementation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Used </a:t>
          </a:r>
          <a:r>
            <a:rPr lang="en-US" sz="2800" b="1" kern="1200">
              <a:solidFill>
                <a:schemeClr val="tx1"/>
              </a:solidFill>
              <a:latin typeface="Baskerville Old Face" panose="02020602080505020303" pitchFamily="18" charset="0"/>
            </a:rPr>
            <a:t>DAX functions</a:t>
          </a: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 like SUM, AVERAGE, IF, CALCULATE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Created measures for revenue, wait time, and performance </a:t>
          </a:r>
          <a:endParaRPr lang="en-IN" sz="2800" kern="1200" dirty="0">
            <a:solidFill>
              <a:schemeClr val="tx1"/>
            </a:solidFill>
          </a:endParaRPr>
        </a:p>
      </dsp:txBody>
      <dsp:txXfrm>
        <a:off x="11924293" y="1001352"/>
        <a:ext cx="5461121" cy="3203949"/>
      </dsp:txXfrm>
    </dsp:sp>
    <dsp:sp modelId="{DC560DAC-8F33-4419-A7A6-A157B53EDC60}">
      <dsp:nvSpPr>
        <dsp:cNvPr id="0" name=""/>
        <dsp:cNvSpPr/>
      </dsp:nvSpPr>
      <dsp:spPr>
        <a:xfrm>
          <a:off x="2223931" y="4547405"/>
          <a:ext cx="6089781" cy="28120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b="1" kern="1200">
              <a:solidFill>
                <a:schemeClr val="tx1"/>
              </a:solidFill>
              <a:latin typeface="Baskerville Old Face" panose="02020602080505020303" pitchFamily="18" charset="0"/>
            </a:rPr>
            <a:t>Data Visualization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Developed </a:t>
          </a:r>
          <a:r>
            <a:rPr lang="en-US" sz="2800" b="1" kern="1200">
              <a:solidFill>
                <a:schemeClr val="tx1"/>
              </a:solidFill>
              <a:latin typeface="Baskerville Old Face" panose="02020602080505020303" pitchFamily="18" charset="0"/>
            </a:rPr>
            <a:t>interactive dashboards in Power BI</a:t>
          </a: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Used charts, tables, and reports for clear insights </a:t>
          </a:r>
          <a:endParaRPr lang="en-IN" sz="2800" kern="1200" dirty="0">
            <a:solidFill>
              <a:schemeClr val="tx1"/>
            </a:solidFill>
          </a:endParaRPr>
        </a:p>
      </dsp:txBody>
      <dsp:txXfrm>
        <a:off x="2223931" y="4547405"/>
        <a:ext cx="6089781" cy="2812095"/>
      </dsp:txXfrm>
    </dsp:sp>
    <dsp:sp modelId="{19CDFB86-9680-4BAC-B5A0-3E5159C1B030}">
      <dsp:nvSpPr>
        <dsp:cNvPr id="0" name=""/>
        <dsp:cNvSpPr/>
      </dsp:nvSpPr>
      <dsp:spPr>
        <a:xfrm>
          <a:off x="8536049" y="4547405"/>
          <a:ext cx="6751204" cy="28120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b="1" kern="1200">
              <a:solidFill>
                <a:schemeClr val="tx1"/>
              </a:solidFill>
              <a:latin typeface="Baskerville Old Face" panose="02020602080505020303" pitchFamily="18" charset="0"/>
            </a:rPr>
            <a:t>Insight Generation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Analyzed </a:t>
          </a:r>
          <a:r>
            <a:rPr lang="en-US" sz="2800" b="1" kern="1200">
              <a:solidFill>
                <a:schemeClr val="tx1"/>
              </a:solidFill>
              <a:latin typeface="Baskerville Old Face" panose="02020602080505020303" pitchFamily="18" charset="0"/>
            </a:rPr>
            <a:t>patient demographics and trends</a:t>
          </a: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Evaluated </a:t>
          </a:r>
          <a:r>
            <a:rPr lang="en-US" sz="2800" b="1" kern="1200">
              <a:solidFill>
                <a:schemeClr val="tx1"/>
              </a:solidFill>
              <a:latin typeface="Baskerville Old Face" panose="02020602080505020303" pitchFamily="18" charset="0"/>
            </a:rPr>
            <a:t>department performance and waiting time</a:t>
          </a: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Supported </a:t>
          </a:r>
          <a:r>
            <a:rPr lang="en-US" sz="2800" b="1" kern="1200">
              <a:solidFill>
                <a:schemeClr val="tx1"/>
              </a:solidFill>
              <a:latin typeface="Baskerville Old Face" panose="02020602080505020303" pitchFamily="18" charset="0"/>
            </a:rPr>
            <a:t>data-driven decision-making</a:t>
          </a:r>
          <a:r>
            <a:rPr lang="en-US" sz="2800" kern="1200">
              <a:solidFill>
                <a:schemeClr val="tx1"/>
              </a:solidFill>
              <a:latin typeface="Baskerville Old Face" panose="02020602080505020303" pitchFamily="18" charset="0"/>
            </a:rPr>
            <a:t> </a:t>
          </a:r>
          <a:endParaRPr lang="en-IN" sz="2800" kern="1200" dirty="0">
            <a:solidFill>
              <a:schemeClr val="tx1"/>
            </a:solidFill>
          </a:endParaRPr>
        </a:p>
      </dsp:txBody>
      <dsp:txXfrm>
        <a:off x="8536049" y="4547405"/>
        <a:ext cx="6751204" cy="2812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3.svg"/><Relationship Id="rId7" Type="http://schemas.openxmlformats.org/officeDocument/2006/relationships/diagramData" Target="../diagrams/data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microsoft.com/office/2007/relationships/diagramDrawing" Target="../diagrams/drawing1.xml"/><Relationship Id="rId5" Type="http://schemas.openxmlformats.org/officeDocument/2006/relationships/image" Target="../media/image7.jpe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svg"/><Relationship Id="rId9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jpe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1201400" y="800100"/>
            <a:ext cx="6792971" cy="8534400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55077">
            <a:off x="15864967" y="1912701"/>
            <a:ext cx="1637635" cy="1886470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 rot="20544870">
            <a:off x="15100179" y="4431359"/>
            <a:ext cx="1842211" cy="1881482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5500207" flipH="1">
            <a:off x="13522830" y="3365118"/>
            <a:ext cx="1904276" cy="1920454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3128515" y="6991156"/>
            <a:ext cx="6235667" cy="571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800" b="1" dirty="0">
                <a:solidFill>
                  <a:srgbClr val="222366"/>
                </a:solidFill>
                <a:latin typeface="Baskerville Old Face" panose="02020602080505020303" pitchFamily="18" charset="0"/>
                <a:ea typeface="Public Sans Bold"/>
                <a:cs typeface="Public Sans Bold"/>
                <a:sym typeface="Public Sans Bold"/>
              </a:rPr>
              <a:t>DHRUV KR. KESHRI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E6BC8-1573-2826-ED05-FE67EDFB36CB}"/>
              </a:ext>
            </a:extLst>
          </p:cNvPr>
          <p:cNvSpPr txBox="1"/>
          <p:nvPr/>
        </p:nvSpPr>
        <p:spPr>
          <a:xfrm>
            <a:off x="607550" y="2571333"/>
            <a:ext cx="1127759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>
                <a:solidFill>
                  <a:srgbClr val="1FACBF"/>
                </a:solidFill>
                <a:latin typeface="Baskerville Old Face" panose="02020602080505020303" pitchFamily="18" charset="0"/>
                <a:ea typeface="Cy Grotesk Key Bold"/>
                <a:cs typeface="Cy Grotesk Key Bold"/>
                <a:sym typeface="Cy Grotesk Key Bold"/>
              </a:rPr>
              <a:t>Columbia Asia Hospital Analysis</a:t>
            </a:r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15A068C9-5ACE-3ECC-D941-9751D2990D9A}"/>
              </a:ext>
            </a:extLst>
          </p:cNvPr>
          <p:cNvSpPr/>
          <p:nvPr/>
        </p:nvSpPr>
        <p:spPr>
          <a:xfrm rot="-1793077">
            <a:off x="14026234" y="6587688"/>
            <a:ext cx="1352312" cy="1783035"/>
          </a:xfrm>
          <a:custGeom>
            <a:avLst/>
            <a:gdLst/>
            <a:ahLst/>
            <a:cxnLst/>
            <a:rect l="l" t="t" r="r" b="b"/>
            <a:pathLst>
              <a:path w="1769402" h="2463725">
                <a:moveTo>
                  <a:pt x="0" y="0"/>
                </a:moveTo>
                <a:lnTo>
                  <a:pt x="1769402" y="0"/>
                </a:lnTo>
                <a:lnTo>
                  <a:pt x="1769402" y="2463724"/>
                </a:lnTo>
                <a:lnTo>
                  <a:pt x="0" y="2463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6F68DEA1-978B-6571-D77B-78AEA2ED934D}"/>
              </a:ext>
            </a:extLst>
          </p:cNvPr>
          <p:cNvSpPr/>
          <p:nvPr/>
        </p:nvSpPr>
        <p:spPr>
          <a:xfrm rot="-1257881">
            <a:off x="15846652" y="6224961"/>
            <a:ext cx="1464863" cy="1532388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83B8-8915-A071-2B48-FB9C9A3D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07A5F25-8F48-DE7A-757D-6DBF4313FFBD}"/>
              </a:ext>
            </a:extLst>
          </p:cNvPr>
          <p:cNvSpPr/>
          <p:nvPr/>
        </p:nvSpPr>
        <p:spPr>
          <a:xfrm rot="317439">
            <a:off x="167499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B9ED74F-6048-9BB2-4C98-5554A057A59A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3CDF677-C17A-5491-F29A-BF0606BCEC4C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472D87-4AA0-9524-E00F-44F5E464A9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7BDE649D-1674-62F3-7114-26B06D8E69F7}"/>
              </a:ext>
            </a:extLst>
          </p:cNvPr>
          <p:cNvSpPr/>
          <p:nvPr/>
        </p:nvSpPr>
        <p:spPr>
          <a:xfrm rot="6833429">
            <a:off x="17114165" y="8577438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41FC1C7-F28A-4833-C895-AAA0942D2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14249400" cy="61341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en-US" sz="36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Baskerville Old Face" panose="02020602080505020303" pitchFamily="18" charset="0"/>
              </a:rPr>
              <a:t>Columbia Asia Hospitals is a renowned healthcare institution known for its patient-centered approach and medical excellence. It operates across multiple countries, offering high-quality healthcare services with modern infrastructure and advanced technology. The hospital’s skilled and compassionate professionals provide personalized care, aiming to improve health outcomes and promote a healthier society.</a:t>
            </a:r>
          </a:p>
          <a:p>
            <a:endParaRPr lang="en-IN" sz="3600" dirty="0">
              <a:latin typeface="Baskerville Old Face" panose="02020602080505020303" pitchFamily="18" charset="0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15D3945B-8744-B227-BF93-552155100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98837"/>
            <a:ext cx="1386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ea typeface="Cy Grotesk Key Bold"/>
                <a:cs typeface="Cy Grotesk Key Bold"/>
                <a:sym typeface="Cy Grotesk Key Bold"/>
              </a:rPr>
              <a:t>ABOUT : COLUMBIA ASIA HOSPITAL</a:t>
            </a:r>
          </a:p>
        </p:txBody>
      </p:sp>
    </p:spTree>
    <p:extLst>
      <p:ext uri="{BB962C8B-B14F-4D97-AF65-F5344CB8AC3E}">
        <p14:creationId xmlns:p14="http://schemas.microsoft.com/office/powerpoint/2010/main" val="110411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FBA5-3A9F-47C0-6614-5C81CC86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AB80C5B-BF46-BA4F-EDD8-1D0FF558CEE6}"/>
              </a:ext>
            </a:extLst>
          </p:cNvPr>
          <p:cNvSpPr/>
          <p:nvPr/>
        </p:nvSpPr>
        <p:spPr>
          <a:xfrm rot="317439">
            <a:off x="167499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768BC6E-D3B2-C392-EC6B-D39F4CF7A879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AC8C2F8-94FA-A8CC-69C8-AD137D381557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AF5E1-E9B3-B83E-1B38-2246D88BC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1915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DEAB4605-9999-194E-04CF-CF4D28B3A584}"/>
              </a:ext>
            </a:extLst>
          </p:cNvPr>
          <p:cNvSpPr/>
          <p:nvPr/>
        </p:nvSpPr>
        <p:spPr>
          <a:xfrm rot="6833429">
            <a:off x="17114165" y="8577438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71D5E-3B79-4EE1-B1FC-D97D45A8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2500"/>
            <a:ext cx="10972800" cy="8229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en-US" sz="3600" dirty="0">
              <a:latin typeface="Baskerville Old Face" panose="02020602080505020303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B2DDA60-802A-2676-B4D9-DA3CEB0FA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98837"/>
            <a:ext cx="8229600" cy="10156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6F5CB-B8E5-7CFF-CEC5-765B37A59A10}"/>
              </a:ext>
            </a:extLst>
          </p:cNvPr>
          <p:cNvSpPr txBox="1"/>
          <p:nvPr/>
        </p:nvSpPr>
        <p:spPr>
          <a:xfrm>
            <a:off x="990600" y="2628900"/>
            <a:ext cx="9235440" cy="366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lnSpc>
                <a:spcPts val="5656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73348"/>
                </a:solidFill>
                <a:latin typeface="Baskerville Old Face" panose="02020602080505020303" pitchFamily="18" charset="0"/>
                <a:ea typeface="Canva Sans"/>
                <a:cs typeface="Canva Sans"/>
                <a:sym typeface="Canva Sans"/>
              </a:rPr>
              <a:t>Problem Statement</a:t>
            </a:r>
          </a:p>
          <a:p>
            <a:pPr marL="571500" indent="-571500" algn="l">
              <a:lnSpc>
                <a:spcPts val="5656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73348"/>
                </a:solidFill>
                <a:latin typeface="Baskerville Old Face" panose="02020602080505020303" pitchFamily="18" charset="0"/>
                <a:ea typeface="Canva Sans"/>
                <a:cs typeface="Canva Sans"/>
                <a:sym typeface="Canva Sans"/>
              </a:rPr>
              <a:t>Data Description</a:t>
            </a:r>
          </a:p>
          <a:p>
            <a:pPr marL="571500" indent="-571500" algn="l">
              <a:lnSpc>
                <a:spcPts val="5656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73348"/>
                </a:solidFill>
                <a:latin typeface="Baskerville Old Face" panose="02020602080505020303" pitchFamily="18" charset="0"/>
                <a:ea typeface="Canva Sans"/>
                <a:cs typeface="Canva Sans"/>
                <a:sym typeface="Canva Sans"/>
              </a:rPr>
              <a:t>Objective Key Metrics and Visualizations</a:t>
            </a:r>
          </a:p>
          <a:p>
            <a:pPr marL="571500" indent="-571500" algn="l">
              <a:lnSpc>
                <a:spcPts val="5656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73348"/>
                </a:solidFill>
                <a:latin typeface="Baskerville Old Face" panose="02020602080505020303" pitchFamily="18" charset="0"/>
                <a:ea typeface="Canva Sans"/>
                <a:cs typeface="Canva Sans"/>
                <a:sym typeface="Canva Sans"/>
              </a:rPr>
              <a:t>Subjective Question for Insights</a:t>
            </a:r>
          </a:p>
          <a:p>
            <a:pPr marL="571500" indent="-571500" algn="l">
              <a:lnSpc>
                <a:spcPts val="5656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73348"/>
                </a:solidFill>
                <a:latin typeface="Baskerville Old Face" panose="02020602080505020303" pitchFamily="18" charset="0"/>
                <a:ea typeface="Canva Sans"/>
                <a:cs typeface="Canva Sans"/>
                <a:sym typeface="Canva Sans"/>
              </a:rPr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406603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40A8-598D-6E34-A76A-31ED330A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F2748C78-0038-B576-4991-07B684C0EEA4}"/>
              </a:ext>
            </a:extLst>
          </p:cNvPr>
          <p:cNvSpPr/>
          <p:nvPr/>
        </p:nvSpPr>
        <p:spPr>
          <a:xfrm rot="317439">
            <a:off x="16683094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0B0C17D-7D7A-8767-E606-B3D58A05498E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82EC404-10B6-7F4D-1A08-4CA204943785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1814D-34EA-EE94-20F7-BE267FAF3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7E4AFFD1-1D50-2136-FDB9-DE10437E79D2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8334E1-92FB-1060-43D1-1A37DBCF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27193"/>
            <a:ext cx="15468600" cy="6515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As a consultant data analyst for Columbia Asia Hospitals, you are assigned to evaluate the hospital’s operational and financial performance.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The hospital aims to achieve the following objectives: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Evaluate the hospital’s revenue performance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Identify departments that require additional hiring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Recommend effective patient discount strategies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Based on your analysis, prepare a comprehensive report that provides actionable insights to support decision-making and improve overall efficiency and patient satisfaction.</a:t>
            </a:r>
            <a:endParaRPr lang="en-IN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8FE239F-07F2-330D-24E6-76B6E67EF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98837"/>
            <a:ext cx="9829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ea typeface="Cy Grotesk Key Bold"/>
                <a:cs typeface="Cy Grotesk Key Bold"/>
                <a:sym typeface="Cy Grotesk Key Bold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7440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01B9-4469-3B3C-6909-B06CA90E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F94B5D35-BFCF-C409-DD7D-7BA7A1FA9E0B}"/>
              </a:ext>
            </a:extLst>
          </p:cNvPr>
          <p:cNvSpPr/>
          <p:nvPr/>
        </p:nvSpPr>
        <p:spPr>
          <a:xfrm rot="317439">
            <a:off x="16683094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B896DE0-E05D-8ABE-A4EB-ABA403956BB4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C0A31B8-5D59-C873-9257-F05AC2826F7E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48CC6D-EC29-384C-DDFB-F80D468814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14BC4DD4-96AD-9871-66C9-FA6896E111C5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FFBC63-01B9-468C-BF09-0F14F31AA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2095500"/>
            <a:ext cx="7000461" cy="6019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Baskerville Old Face" panose="02020602080505020303" pitchFamily="18" charset="0"/>
              </a:rPr>
              <a:t>Dataset 1: Hospital ER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Contains 9,216 patient records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Includes date, patient ID, age, gender, and race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Tracks patient wait time and admission status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Captures patient satisfaction scores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Helps analyze ER operations and patient flow</a:t>
            </a:r>
          </a:p>
          <a:p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429F2BF-8407-4C34-A9D1-29BA4C04B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659" y="647700"/>
            <a:ext cx="7010400" cy="10156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en-IN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DATA OVERVIEW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3ECCB2-4B1E-981A-7D70-741BD05946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400" y="2095770"/>
            <a:ext cx="9625154" cy="601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7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04F4-B708-28E5-DB4A-243115B7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0A7A295-6BF4-E517-5DBD-57DAD9C4979F}"/>
              </a:ext>
            </a:extLst>
          </p:cNvPr>
          <p:cNvSpPr/>
          <p:nvPr/>
        </p:nvSpPr>
        <p:spPr>
          <a:xfrm rot="317439">
            <a:off x="16683094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9F1E0E4-66A5-3ADB-1EEF-2F718DA4E0E6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D8F1C8E-BAD7-91AD-AF64-33FBB8E6A27E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7433E-242A-2E74-E410-F15C206988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14122302-5F94-3B27-ABC5-7AADA8974456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410E1-94A1-BED2-900B-374C85FD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3100"/>
            <a:ext cx="8229600" cy="5753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Baskerville Old Face" panose="02020602080505020303" pitchFamily="18" charset="0"/>
              </a:rPr>
              <a:t>Dataset 2: Doctor Patients Data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Includes doctor names and department referrals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Tracks appointment fees and total billing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Contains doctor ID and patient visit details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Useful for analyzing revenue and doctor performance </a:t>
            </a:r>
          </a:p>
          <a:p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A65B1E5-A394-75BC-A429-C2A6314C1D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47700"/>
            <a:ext cx="7924800" cy="10156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en-IN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DATA 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013675-220F-C572-2158-AA38D66A7000}"/>
              </a:ext>
            </a:extLst>
          </p:cNvPr>
          <p:cNvSpPr txBox="1"/>
          <p:nvPr/>
        </p:nvSpPr>
        <p:spPr>
          <a:xfrm>
            <a:off x="499605" y="6376937"/>
            <a:ext cx="1333499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askerville Old Face" panose="02020602080505020303" pitchFamily="18" charset="0"/>
              </a:rPr>
              <a:t>Overall Insights</a:t>
            </a:r>
          </a:p>
          <a:p>
            <a:endParaRPr lang="en-US" sz="1200" dirty="0">
              <a:latin typeface="Baskerville Old Face" panose="020206020805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 Combines operational + financial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 Enables revenue, staffing, and efficiency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 Supports better decision-making and patient experience improvement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E88EF3-ACC8-0F11-2795-F6E760076A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7822" y="1880727"/>
            <a:ext cx="9101595" cy="55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7910-FDEB-964E-DD9C-2D1DDA7F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C50DC66F-7D54-F065-9876-8AAAB002BDFD}"/>
              </a:ext>
            </a:extLst>
          </p:cNvPr>
          <p:cNvSpPr/>
          <p:nvPr/>
        </p:nvSpPr>
        <p:spPr>
          <a:xfrm rot="317439">
            <a:off x="16683094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37C18B8-4054-3A70-3656-4BFCE067BB28}"/>
              </a:ext>
            </a:extLst>
          </p:cNvPr>
          <p:cNvSpPr/>
          <p:nvPr/>
        </p:nvSpPr>
        <p:spPr>
          <a:xfrm rot="1340700">
            <a:off x="327842" y="8790687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AE9C8A5-764A-0D58-7BE1-F1125F2DA7B2}"/>
              </a:ext>
            </a:extLst>
          </p:cNvPr>
          <p:cNvSpPr/>
          <p:nvPr/>
        </p:nvSpPr>
        <p:spPr>
          <a:xfrm rot="1206312" flipH="1">
            <a:off x="890128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6E7E64-D254-5D73-19F2-49ED64B655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A5E8CDA0-B0B4-EA7D-6F13-BCD9635A675D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AC51548-E5CD-BA6C-94F5-2BF7434AB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077613"/>
              </p:ext>
            </p:extLst>
          </p:nvPr>
        </p:nvGraphicFramePr>
        <p:xfrm>
          <a:off x="381000" y="1663363"/>
          <a:ext cx="17726610" cy="844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70E0326C-DA03-B1C8-EDE6-B0F05A2FD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98837"/>
            <a:ext cx="7924800" cy="10156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en-IN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400677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C399-CFD8-8383-9506-6CDB7778B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55E85D2-B62C-8019-F92B-952A5842DD49}"/>
              </a:ext>
            </a:extLst>
          </p:cNvPr>
          <p:cNvSpPr/>
          <p:nvPr/>
        </p:nvSpPr>
        <p:spPr>
          <a:xfrm rot="317439">
            <a:off x="16733861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3620827-0E4F-0969-2840-5378363AA67F}"/>
              </a:ext>
            </a:extLst>
          </p:cNvPr>
          <p:cNvSpPr/>
          <p:nvPr/>
        </p:nvSpPr>
        <p:spPr>
          <a:xfrm rot="1340700">
            <a:off x="201281" y="8775356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65F2A01-32ED-DA12-5ACA-13BC2C7892DC}"/>
              </a:ext>
            </a:extLst>
          </p:cNvPr>
          <p:cNvSpPr/>
          <p:nvPr/>
        </p:nvSpPr>
        <p:spPr>
          <a:xfrm rot="1206312" flipH="1">
            <a:off x="813928" y="90801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E8C4C-9B6C-4908-66C3-0CE715CC7C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5A9DC4ED-F97F-80C6-4763-666084B6EE34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3196E12B-3881-C64A-D411-A9CB780AE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98837"/>
            <a:ext cx="13847060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TOTAL REVENUE BY DEPARTMENTS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DB745-1316-000F-D630-C206A781A8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0" y="3086100"/>
            <a:ext cx="7924799" cy="51054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EDE563-C774-F30D-E498-12C3CF2A30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3180308"/>
            <a:ext cx="906779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Orthopedics ($173M) and General Practice ($164M)    are top revenue-generating departments.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Neurology ($73M) and Cardiology ($68M) show moderate revenue contribution.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Physiotherapy ($17M), Gastroenterology ($10M), and Renal ($5M) contribute minimal revenue.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Revenue is concentrated in top 2 departments, showing dependency.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There is opportunity to grow revenue in lower-performing departments.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B6D9E-4CF0-0449-4002-53EE72F0C48A}"/>
              </a:ext>
            </a:extLst>
          </p:cNvPr>
          <p:cNvSpPr txBox="1"/>
          <p:nvPr/>
        </p:nvSpPr>
        <p:spPr>
          <a:xfrm>
            <a:off x="698718" y="2058769"/>
            <a:ext cx="15912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Baskerville Old Face" panose="02020602080505020303" pitchFamily="18" charset="0"/>
              </a:rPr>
              <a:t>This visualization shows revenue contribution by each hospital department.</a:t>
            </a:r>
            <a:endParaRPr lang="en-IN" sz="36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72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695E-B86C-F916-46A7-F08E4CF9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3846D64-ACBD-229D-56DE-583E169C36B5}"/>
              </a:ext>
            </a:extLst>
          </p:cNvPr>
          <p:cNvSpPr/>
          <p:nvPr/>
        </p:nvSpPr>
        <p:spPr>
          <a:xfrm rot="317439">
            <a:off x="167499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1E7DDA1-0D29-B89B-F966-9AB19A3F94ED}"/>
              </a:ext>
            </a:extLst>
          </p:cNvPr>
          <p:cNvSpPr/>
          <p:nvPr/>
        </p:nvSpPr>
        <p:spPr>
          <a:xfrm rot="1340700">
            <a:off x="201281" y="8714487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1745929-BD4C-8AC4-6E39-C297456AA4C5}"/>
              </a:ext>
            </a:extLst>
          </p:cNvPr>
          <p:cNvSpPr/>
          <p:nvPr/>
        </p:nvSpPr>
        <p:spPr>
          <a:xfrm rot="1206312" flipH="1">
            <a:off x="813928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2BE21-E07E-346C-1274-8160AFF4C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47A914E5-E4D0-DB41-A018-156423E9875F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A467EE-F315-482F-F52C-5F0E7AF533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98837"/>
            <a:ext cx="12627175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algn="l" defTabSz="914286"/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ea typeface="+mn-ea"/>
                <a:cs typeface="+mn-cs"/>
                <a:sym typeface="Cy Grotesk Key Bold"/>
              </a:rPr>
              <a:t>TOTAL VISITS BY DEPARTMENTS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646D5-5287-9610-FE1A-A7C4F5B9D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1353" y="3482520"/>
            <a:ext cx="9072035" cy="40231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B239D-8B37-E0E0-E709-8ED5DC8D610F}"/>
              </a:ext>
            </a:extLst>
          </p:cNvPr>
          <p:cNvSpPr txBox="1"/>
          <p:nvPr/>
        </p:nvSpPr>
        <p:spPr>
          <a:xfrm>
            <a:off x="457200" y="2834700"/>
            <a:ext cx="802353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General Practice dominates with 78.5% of total visits.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Orthopedics contributes moderately with 10.8% of visits.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Physiotherapy, Cardiology, Neurology show low visit volumes.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Gastroenterology has minimal share among all departments.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Visits are highly concentrated in one department.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Baskerville Old Face" panose="02020602080505020303" pitchFamily="18" charset="0"/>
              </a:rPr>
              <a:t>There is scope to balance patient load better.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D819E-DF70-E640-7695-CDBA2FDCEB4F}"/>
              </a:ext>
            </a:extLst>
          </p:cNvPr>
          <p:cNvSpPr txBox="1"/>
          <p:nvPr/>
        </p:nvSpPr>
        <p:spPr>
          <a:xfrm>
            <a:off x="838200" y="1943100"/>
            <a:ext cx="14206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Baskerville Old Face" panose="02020602080505020303" pitchFamily="18" charset="0"/>
              </a:rPr>
              <a:t>This visualization highlights patient visit distribution by department</a:t>
            </a:r>
            <a:endParaRPr lang="en-IN" sz="36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97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23C6-B83F-B237-B944-849A1120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AE70AD4-EAE6-0742-266A-3F8EE5DD5275}"/>
              </a:ext>
            </a:extLst>
          </p:cNvPr>
          <p:cNvSpPr/>
          <p:nvPr/>
        </p:nvSpPr>
        <p:spPr>
          <a:xfrm rot="317439">
            <a:off x="167499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84ED6D8-FB11-A22E-FD19-0C0405648B92}"/>
              </a:ext>
            </a:extLst>
          </p:cNvPr>
          <p:cNvSpPr/>
          <p:nvPr/>
        </p:nvSpPr>
        <p:spPr>
          <a:xfrm rot="1340700">
            <a:off x="201281" y="8714487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DB31E7B3-A0C1-1DB2-DD35-F4DCF47305E0}"/>
              </a:ext>
            </a:extLst>
          </p:cNvPr>
          <p:cNvSpPr/>
          <p:nvPr/>
        </p:nvSpPr>
        <p:spPr>
          <a:xfrm rot="1206312" flipH="1">
            <a:off x="813928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90772-02C5-3795-D405-0B17ADFA87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B7D1F870-B1BB-DECF-E26F-0989C4086A36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3DC2FE-0878-00AC-7AFB-0A0BDBFA6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060024"/>
            <a:ext cx="16535400" cy="797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Baskerville Old Face" panose="02020602080505020303" pitchFamily="18" charset="0"/>
              </a:rPr>
              <a:t>  The visualization presents how patient visits are distributed across different genders</a:t>
            </a:r>
            <a:endParaRPr lang="en-IN" sz="3600" b="1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BAA6B727-E3F7-8FAC-6644-DCEEF4DF7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593" y="713991"/>
            <a:ext cx="13653097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TOTAL VISITS BY PATIENT GENDER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15391-1FA1-74CC-8BCC-55CF8601F5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3543301"/>
            <a:ext cx="9023120" cy="3809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95DF89-8D11-873D-A72A-7CFE4CCDC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93" y="3099962"/>
            <a:ext cx="820000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Male patients account for 51.05% (5K visits), slightly leading overall visits.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Female patients represent 48.69% (4K visits), showing a very close distribution.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Non-classified (NC) accounts for 0.26% (0K visits), contributing minimally.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The difference between male and female visits is very small (2.36%).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Overall, patient visits show a balanced gender distribution across the hospital. </a:t>
            </a:r>
          </a:p>
        </p:txBody>
      </p:sp>
    </p:spTree>
    <p:extLst>
      <p:ext uri="{BB962C8B-B14F-4D97-AF65-F5344CB8AC3E}">
        <p14:creationId xmlns:p14="http://schemas.microsoft.com/office/powerpoint/2010/main" val="378587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7770-637B-B2B9-33B3-9CD47B72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6E7B01A-BE65-ABF3-8AD4-331F21034879}"/>
              </a:ext>
            </a:extLst>
          </p:cNvPr>
          <p:cNvSpPr/>
          <p:nvPr/>
        </p:nvSpPr>
        <p:spPr>
          <a:xfrm rot="317439">
            <a:off x="16810061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D8E56B1-B156-544B-2548-50FF31239771}"/>
              </a:ext>
            </a:extLst>
          </p:cNvPr>
          <p:cNvSpPr/>
          <p:nvPr/>
        </p:nvSpPr>
        <p:spPr>
          <a:xfrm rot="1340700">
            <a:off x="175442" y="8851556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39DB049F-EEBD-389E-AAB1-859A95535D77}"/>
              </a:ext>
            </a:extLst>
          </p:cNvPr>
          <p:cNvSpPr/>
          <p:nvPr/>
        </p:nvSpPr>
        <p:spPr>
          <a:xfrm rot="1206312" flipH="1">
            <a:off x="803609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EB9A9-E273-5217-3AB7-EDBCCD86E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5B4DDF0C-5C71-1976-0693-A245BB67BBDD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F16CE00-ECCF-DD93-E260-2212009B7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282833"/>
            <a:ext cx="14630400" cy="175432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AVERAGE PATIENT WAIT TIME &amp; SAT. SCORE BY DEPARTMENT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E9EEA2-D5EF-E505-2D46-2DE22EABB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8236" y="2933700"/>
            <a:ext cx="8534399" cy="53725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6BFD97-43AC-88D3-86C8-6431914E3EB0}"/>
              </a:ext>
            </a:extLst>
          </p:cNvPr>
          <p:cNvSpPr txBox="1"/>
          <p:nvPr/>
        </p:nvSpPr>
        <p:spPr>
          <a:xfrm>
            <a:off x="838200" y="2053450"/>
            <a:ext cx="1584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Baskerville Old Face" panose="02020602080505020303" pitchFamily="18" charset="0"/>
              </a:rPr>
              <a:t>The chart presents the comparison of avg. patient wait time and sat. scores across dept.</a:t>
            </a:r>
            <a:endParaRPr lang="en-IN" sz="3600" b="1" dirty="0">
              <a:latin typeface="Baskerville Old Face" panose="02020602080505020303" pitchFamily="18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D0C57BFD-90D7-3033-12C9-F367FDD09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2798171"/>
            <a:ext cx="85344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Neurology &amp; Physiotherapy have highest wait time (37 mins) with moderate satisfaction.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Gastroenterology has slightly lower wait time but highest satisfaction.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Cardiology &amp; General Practice show stable wait times with average satisfaction.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Orthopedics &amp; Renal have similar wait times but lowest satisfaction.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Satisfaction decreases across departments despite similar wait times.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Indicates other factors affect patient satisfaction beyond wait time </a:t>
            </a:r>
          </a:p>
        </p:txBody>
      </p:sp>
    </p:spTree>
    <p:extLst>
      <p:ext uri="{BB962C8B-B14F-4D97-AF65-F5344CB8AC3E}">
        <p14:creationId xmlns:p14="http://schemas.microsoft.com/office/powerpoint/2010/main" val="3937475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D595-0506-04A3-FA16-6C43BE26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0F95C42-564B-55FC-1911-2ED86A70D4E9}"/>
              </a:ext>
            </a:extLst>
          </p:cNvPr>
          <p:cNvSpPr/>
          <p:nvPr/>
        </p:nvSpPr>
        <p:spPr>
          <a:xfrm rot="317439">
            <a:off x="168261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6597023-DACE-BCE3-6679-12E73DBF99C1}"/>
              </a:ext>
            </a:extLst>
          </p:cNvPr>
          <p:cNvSpPr/>
          <p:nvPr/>
        </p:nvSpPr>
        <p:spPr>
          <a:xfrm rot="1340700">
            <a:off x="201281" y="8790687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C0A5353-6DDB-3050-EFC2-7532FFF35979}"/>
              </a:ext>
            </a:extLst>
          </p:cNvPr>
          <p:cNvSpPr/>
          <p:nvPr/>
        </p:nvSpPr>
        <p:spPr>
          <a:xfrm rot="1206312" flipH="1">
            <a:off x="813928" y="92325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B7D73-3CC0-797B-AB10-1016830C0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E35B5E01-B9E6-332E-ABDF-A9809A32FBE6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4D6A510-8BBC-89CA-9438-122A4A188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400301"/>
            <a:ext cx="15849599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latin typeface="Baskerville Old Face" panose="02020602080505020303" pitchFamily="18" charset="0"/>
              </a:rPr>
              <a:t>   The chart presents average patient satisfaction scores across age groups and races</a:t>
            </a:r>
            <a:endParaRPr lang="en-IN" sz="3600" b="1" dirty="0">
              <a:latin typeface="Baskerville Old Face" panose="02020602080505020303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50A67AE-8F05-B944-261E-173B7B3B18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72933"/>
            <a:ext cx="13563599" cy="19389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PATIENT SATISFACTION ANALYSIS BY AGE &amp; RACE</a:t>
            </a:r>
            <a:endParaRPr lang="en-US" sz="6000" b="1" dirty="0">
              <a:solidFill>
                <a:srgbClr val="1FACBF"/>
              </a:solidFill>
              <a:latin typeface="Baskerville Old Face" panose="02020602080505020303" pitchFamily="18" charset="0"/>
              <a:sym typeface="Cy Grotesk Key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48585-2556-8276-3AFF-2CB86ABA2A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3314700"/>
            <a:ext cx="8318115" cy="5023006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C562D26-2B12-A01B-1986-B6F449B7E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616726"/>
            <a:ext cx="8229600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Satisfaction scores are consistent (4–6) across age groups and races.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Age group 18–28 and 40–59 show higher satisfaction levels.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Age group 29–39 shows relatively lower satisfaction scores.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Older groups (60+) maintain stable satisfaction levels.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Variation across races is minimal, showing balanced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Overall, satisfaction is uniform across demographics. </a:t>
            </a:r>
          </a:p>
        </p:txBody>
      </p:sp>
    </p:spTree>
    <p:extLst>
      <p:ext uri="{BB962C8B-B14F-4D97-AF65-F5344CB8AC3E}">
        <p14:creationId xmlns:p14="http://schemas.microsoft.com/office/powerpoint/2010/main" val="230876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7B34B-3DCC-0B48-9D2B-F44C88F7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7FF6084-2D46-FDCB-22A5-C49D9CCC37EB}"/>
              </a:ext>
            </a:extLst>
          </p:cNvPr>
          <p:cNvSpPr/>
          <p:nvPr/>
        </p:nvSpPr>
        <p:spPr>
          <a:xfrm rot="317439">
            <a:off x="168261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EC7A312-C38B-DA8C-659B-6AD700A6DC3F}"/>
              </a:ext>
            </a:extLst>
          </p:cNvPr>
          <p:cNvSpPr/>
          <p:nvPr/>
        </p:nvSpPr>
        <p:spPr>
          <a:xfrm rot="1340700">
            <a:off x="201281" y="8790687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A5BA10E-B9AC-5888-D633-34B87692B087}"/>
              </a:ext>
            </a:extLst>
          </p:cNvPr>
          <p:cNvSpPr/>
          <p:nvPr/>
        </p:nvSpPr>
        <p:spPr>
          <a:xfrm rot="1206312" flipH="1">
            <a:off x="737728" y="92325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20763-01FE-13DD-E398-91387C75B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91770A39-CCBE-FB14-D1C2-7DFF56BF65B5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B987DE9-BB15-7996-E4CA-8D55A0739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47700"/>
            <a:ext cx="8529899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DISCOUNT STRATEGY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4F719-43A8-A5A3-3986-06545A2CFF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0200" y="2628900"/>
            <a:ext cx="8389894" cy="569221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46C408-6869-BFD0-CE00-A616535BD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717" y="2893316"/>
            <a:ext cx="849408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53.81% (4.96K) patients are not eligible, while 46.19% (4.26K) receive discounts.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Most patients do not receive discounts, showing limited coverage.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askerville Old Face" panose="02020602080505020303" pitchFamily="18" charset="0"/>
              </a:rPr>
              <a:t>High discounts dominate (46.19%), followed by No Discount (28.78%) and Medium (25.03%).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Discount distribution is selective, focusing on specific groups.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Strategy should focus on targeted discounts for high-value patients.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32405-5D21-33A7-C553-CC4C5098E1A9}"/>
              </a:ext>
            </a:extLst>
          </p:cNvPr>
          <p:cNvSpPr txBox="1"/>
          <p:nvPr/>
        </p:nvSpPr>
        <p:spPr>
          <a:xfrm>
            <a:off x="609600" y="1775648"/>
            <a:ext cx="17607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Baskerville Old Face" panose="02020602080505020303" pitchFamily="18" charset="0"/>
              </a:rPr>
              <a:t>The charts present discount eligibility and allocation across age groups and revenue categories</a:t>
            </a:r>
            <a:endParaRPr lang="en-IN" sz="36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46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2AF7-249D-0FB0-AF29-FAB76550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23022C1-7631-7BA1-5142-B720815AC362}"/>
              </a:ext>
            </a:extLst>
          </p:cNvPr>
          <p:cNvSpPr/>
          <p:nvPr/>
        </p:nvSpPr>
        <p:spPr>
          <a:xfrm rot="317439">
            <a:off x="168261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BF8FABD-B87C-7026-F5EA-BF5A3CDD3864}"/>
              </a:ext>
            </a:extLst>
          </p:cNvPr>
          <p:cNvSpPr/>
          <p:nvPr/>
        </p:nvSpPr>
        <p:spPr>
          <a:xfrm rot="1340700">
            <a:off x="125081" y="8790687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3D64C34-4DBA-AC24-B2F7-064D70C11168}"/>
              </a:ext>
            </a:extLst>
          </p:cNvPr>
          <p:cNvSpPr/>
          <p:nvPr/>
        </p:nvSpPr>
        <p:spPr>
          <a:xfrm rot="1206312" flipH="1">
            <a:off x="661528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5CA84-EFCD-57A1-6652-8CB2A7767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6E3EC1F2-54B2-C86F-5E3E-77138EBCA229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F476D78-5B46-1BE2-2635-799103E1E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888" y="419100"/>
            <a:ext cx="12573000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DASHBOARD(Main Tab)</a:t>
            </a:r>
            <a:endParaRPr lang="en-US" sz="6000" b="1" dirty="0">
              <a:solidFill>
                <a:srgbClr val="1FACBF"/>
              </a:solidFill>
              <a:latin typeface="Baskerville Old Face" panose="02020602080505020303" pitchFamily="18" charset="0"/>
              <a:sym typeface="Cy Grotesk Key Bold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527625-F5A2-F1A2-14CB-C82063BCE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00200"/>
            <a:ext cx="14935200" cy="83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29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0D88-54C6-1BA9-33BA-3F7A32BF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EBCA655-4185-F0B0-2B39-69D1ACB0740C}"/>
              </a:ext>
            </a:extLst>
          </p:cNvPr>
          <p:cNvSpPr/>
          <p:nvPr/>
        </p:nvSpPr>
        <p:spPr>
          <a:xfrm rot="317439">
            <a:off x="168261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4CFFA64-F53A-4D01-7D88-BF092E838D08}"/>
              </a:ext>
            </a:extLst>
          </p:cNvPr>
          <p:cNvSpPr/>
          <p:nvPr/>
        </p:nvSpPr>
        <p:spPr>
          <a:xfrm rot="1340700">
            <a:off x="125081" y="8775356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9A3479C-54D2-1BD1-321C-C25DA3346B5F}"/>
              </a:ext>
            </a:extLst>
          </p:cNvPr>
          <p:cNvSpPr/>
          <p:nvPr/>
        </p:nvSpPr>
        <p:spPr>
          <a:xfrm rot="1206312" flipH="1">
            <a:off x="661528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B7545-66A4-A2C8-D15F-37FC8F2C40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BD6F40FB-D4E1-240D-6D07-A8876BE97A7E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FA20F9-E0AD-D989-16D8-A48DEF4FA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11" y="1515769"/>
            <a:ext cx="15009089" cy="8428331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6742014B-7EFC-3531-3C9B-4C3492CEB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888" y="419100"/>
            <a:ext cx="9642383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DASHBOARD(Doctor’s Tab)</a:t>
            </a:r>
            <a:endParaRPr lang="en-US" sz="6000" b="1" dirty="0">
              <a:solidFill>
                <a:srgbClr val="1FACBF"/>
              </a:solidFill>
              <a:latin typeface="Baskerville Old Face" panose="02020602080505020303" pitchFamily="18" charset="0"/>
              <a:sym typeface="Cy Grotesk K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8296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CA60-F89C-8C84-0D22-07D60737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26263E3-B69B-96F9-8CA9-33A5F68A2AE3}"/>
              </a:ext>
            </a:extLst>
          </p:cNvPr>
          <p:cNvSpPr/>
          <p:nvPr/>
        </p:nvSpPr>
        <p:spPr>
          <a:xfrm rot="317439">
            <a:off x="16826167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B4E5111-E2D6-5613-7CE3-7590BE65BDD5}"/>
              </a:ext>
            </a:extLst>
          </p:cNvPr>
          <p:cNvSpPr/>
          <p:nvPr/>
        </p:nvSpPr>
        <p:spPr>
          <a:xfrm rot="1340700">
            <a:off x="125081" y="8775356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37B56F2D-D4DC-33B6-88CB-484E5A76524D}"/>
              </a:ext>
            </a:extLst>
          </p:cNvPr>
          <p:cNvSpPr/>
          <p:nvPr/>
        </p:nvSpPr>
        <p:spPr>
          <a:xfrm rot="1206312" flipH="1">
            <a:off x="651209" y="9156322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223AF-54D7-7A3A-859B-9211661AF2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F5965B97-717C-3013-F456-12ED8B5A7ACD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AD5941-04B2-7AF5-ECF4-4E7AF3AA4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562100"/>
            <a:ext cx="15011400" cy="8391879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99B21A44-E3D0-4EB6-229A-080262858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888" y="419100"/>
            <a:ext cx="9570249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0" b="1" dirty="0">
                <a:solidFill>
                  <a:srgbClr val="1FACBF"/>
                </a:solidFill>
                <a:latin typeface="Baskerville Old Face" panose="02020602080505020303" pitchFamily="18" charset="0"/>
              </a:rPr>
              <a:t>DASHBOARD(Patient’s Tab)</a:t>
            </a:r>
            <a:endParaRPr lang="en-US" sz="6000" b="1" dirty="0">
              <a:solidFill>
                <a:srgbClr val="1FACBF"/>
              </a:solidFill>
              <a:latin typeface="Baskerville Old Face" panose="02020602080505020303" pitchFamily="18" charset="0"/>
              <a:sym typeface="Cy Grotesk Key Bold"/>
            </a:endParaRPr>
          </a:p>
        </p:txBody>
      </p:sp>
    </p:spTree>
    <p:extLst>
      <p:ext uri="{BB962C8B-B14F-4D97-AF65-F5344CB8AC3E}">
        <p14:creationId xmlns:p14="http://schemas.microsoft.com/office/powerpoint/2010/main" val="1027547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D6C8-75C6-75E1-19D6-4C876DDF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588DAB4-9E7A-F216-A212-79FBC63B27EF}"/>
              </a:ext>
            </a:extLst>
          </p:cNvPr>
          <p:cNvSpPr/>
          <p:nvPr/>
        </p:nvSpPr>
        <p:spPr>
          <a:xfrm rot="317439">
            <a:off x="16683094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7AD3216-C15C-5F5C-8BCF-B073C2DE3B59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5F61F78-7208-00A1-4B51-135B0482D306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FF0A7-5ACB-BEB4-C965-64A5A4C691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9F773063-997B-BACD-EEE5-1D16C65B55B6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F521D8E-F791-9AE0-AEBD-6A53ECA52A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164" y="698837"/>
            <a:ext cx="7879080" cy="10156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3847ED-5ABE-8320-1B97-760E3D2407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344" y="2476500"/>
            <a:ext cx="1569885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Optimize staffing in high-traffic departments: General Practice handles 7K+ visits (78.5%), requiring better staff allocation and patient flow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Strengthen top revenue departments: Orthopedics ($173M, 33.96%) and General Practice ($164M, 32.21%) contribute 66%+ of total revenue.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Improve patient experience beyond wait time: Wait times are similar (35–37 mins), but satisfaction varies (4.57–5.6), indicating service gaps.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Implement targeted discount strategies: Only 46.19% (4.26K) receive discounts; focus on high-value patients instead of broad distribution.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Enhance data quality for better insights: Address missing and inconsistent data to improve future analysis. </a:t>
            </a:r>
          </a:p>
        </p:txBody>
      </p:sp>
    </p:spTree>
    <p:extLst>
      <p:ext uri="{BB962C8B-B14F-4D97-AF65-F5344CB8AC3E}">
        <p14:creationId xmlns:p14="http://schemas.microsoft.com/office/powerpoint/2010/main" val="153376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6FD1-2864-5E14-5BAB-75E850D3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98169CA-24D4-2DEE-1959-4E9BCB71B452}"/>
              </a:ext>
            </a:extLst>
          </p:cNvPr>
          <p:cNvSpPr/>
          <p:nvPr/>
        </p:nvSpPr>
        <p:spPr>
          <a:xfrm rot="317439">
            <a:off x="16683094" y="8926167"/>
            <a:ext cx="882372" cy="1039815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4134337-01FC-5120-21FB-12801DDD4831}"/>
              </a:ext>
            </a:extLst>
          </p:cNvPr>
          <p:cNvSpPr/>
          <p:nvPr/>
        </p:nvSpPr>
        <p:spPr>
          <a:xfrm rot="1340700">
            <a:off x="264561" y="8859175"/>
            <a:ext cx="994877" cy="1255357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62525CD-423E-541D-A561-7A7378F81A83}"/>
              </a:ext>
            </a:extLst>
          </p:cNvPr>
          <p:cNvSpPr/>
          <p:nvPr/>
        </p:nvSpPr>
        <p:spPr>
          <a:xfrm rot="1206312" flipH="1">
            <a:off x="956010" y="9263245"/>
            <a:ext cx="897063" cy="904508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6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6" y="1402006"/>
                </a:lnTo>
                <a:lnTo>
                  <a:pt x="14020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3CAD44-8B64-AAEC-EAD4-35A958C8A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270"/>
            <a:ext cx="2867611" cy="209577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B5B5CC9C-B112-FE9E-0A4E-DCC9916E182B}"/>
              </a:ext>
            </a:extLst>
          </p:cNvPr>
          <p:cNvSpPr/>
          <p:nvPr/>
        </p:nvSpPr>
        <p:spPr>
          <a:xfrm rot="6833429">
            <a:off x="17114165" y="8508454"/>
            <a:ext cx="1151755" cy="1195915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28E9C8-F085-72A5-86A1-34B1DECE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76500"/>
            <a:ext cx="14859000" cy="5410200"/>
          </a:xfrm>
        </p:spPr>
        <p:txBody>
          <a:bodyPr>
            <a:norm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Columbia Asia Hospital shows strong performance in revenue and patient volume, with Orthopedics ($173M) and General Practice ($164M) leading.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There is a need to optimize staffing and workload, as General Practice handles 78.5% of total visits.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While wait times are consistent (35–37 mins), variations in satisfaction (4.57–5.6) highlight need to improve service quality and experience.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The discount strategy is selective, but can improve by targeting high-value patients using visit frequency and billing.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Improving data quality and completeness will support better insights and decision-making.</a:t>
            </a:r>
          </a:p>
          <a:p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15B904A-4817-5F2E-18C7-A2A95C5E1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775037"/>
            <a:ext cx="12573000" cy="10156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1FACBF"/>
                </a:solidFill>
                <a:latin typeface="Baskerville Old Face" panose="02020602080505020303" pitchFamily="18" charset="0"/>
                <a:sym typeface="Cy Grotesk Key Bold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2615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1076</Words>
  <Application>Microsoft Office PowerPoint</Application>
  <PresentationFormat>Custom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Baskerville Old Face</vt:lpstr>
      <vt:lpstr>Calibri</vt:lpstr>
      <vt:lpstr>Office Theme</vt:lpstr>
      <vt:lpstr>PowerPoint Presentation</vt:lpstr>
      <vt:lpstr>ABOUT : COLUMBIA ASIA HOSPITAL</vt:lpstr>
      <vt:lpstr>AGENDA</vt:lpstr>
      <vt:lpstr>PROBLEM STATEMENT</vt:lpstr>
      <vt:lpstr>DATA OVERVIEW</vt:lpstr>
      <vt:lpstr>DATA OVERVIEW</vt:lpstr>
      <vt:lpstr>METHODOLOGY</vt:lpstr>
      <vt:lpstr>TOTAL REVENUE BY DEPARTMENTS</vt:lpstr>
      <vt:lpstr>TOTAL VISITS BY DEPARTMENTS</vt:lpstr>
      <vt:lpstr>TOTAL VISITS BY PATIENT GENDER</vt:lpstr>
      <vt:lpstr>AVERAGE PATIENT WAIT TIME &amp; SAT. SCORE BY DEPARTMENT</vt:lpstr>
      <vt:lpstr>PATIENT SATISFACTION ANALYSIS BY AGE &amp; RACE</vt:lpstr>
      <vt:lpstr>DISCOUNT STRATEGY</vt:lpstr>
      <vt:lpstr>DASHBOARD(Main Tab)</vt:lpstr>
      <vt:lpstr>DASHBOARD(Doctor’s Tab)</vt:lpstr>
      <vt:lpstr>DASHBOARD(Patient’s Tab)</vt:lpstr>
      <vt:lpstr>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Illustrative Innovations in Medicine Presentation</dc:title>
  <cp:lastModifiedBy>DHRUV KESHRI</cp:lastModifiedBy>
  <cp:revision>2</cp:revision>
  <dcterms:created xsi:type="dcterms:W3CDTF">2006-08-16T00:00:00Z</dcterms:created>
  <dcterms:modified xsi:type="dcterms:W3CDTF">2026-05-20T07:50:14Z</dcterms:modified>
  <dc:identifier>DAHG-PyoXPQ</dc:identifier>
</cp:coreProperties>
</file>